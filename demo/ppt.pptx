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serrat Semi-Bold" charset="1" panose="00000700000000000000"/>
      <p:regular r:id="rId15"/>
    </p:embeddedFont>
    <p:embeddedFont>
      <p:font typeface="Montserrat Heavy" charset="1" panose="00000A00000000000000"/>
      <p:regular r:id="rId16"/>
    </p:embeddedFont>
    <p:embeddedFont>
      <p:font typeface="Montserrat Bold" charset="1" panose="00000800000000000000"/>
      <p:regular r:id="rId17"/>
    </p:embeddedFont>
    <p:embeddedFont>
      <p:font typeface="Montserrat" charset="1" panose="00000500000000000000"/>
      <p:regular r:id="rId18"/>
    </p:embeddedFont>
    <p:embeddedFont>
      <p:font typeface="Montserrat Ultra-Bold" charset="1" panose="000009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8999" r="0" b="-899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29855" y="-403539"/>
            <a:ext cx="13031377" cy="11141745"/>
            <a:chOff x="0" y="0"/>
            <a:chExt cx="3432132" cy="2934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32132" cy="2934451"/>
            </a:xfrm>
            <a:custGeom>
              <a:avLst/>
              <a:gdLst/>
              <a:ahLst/>
              <a:cxnLst/>
              <a:rect r="r" b="b" t="t" l="l"/>
              <a:pathLst>
                <a:path h="2934451" w="3432132">
                  <a:moveTo>
                    <a:pt x="0" y="0"/>
                  </a:moveTo>
                  <a:lnTo>
                    <a:pt x="3432132" y="0"/>
                  </a:lnTo>
                  <a:lnTo>
                    <a:pt x="3432132" y="2934451"/>
                  </a:lnTo>
                  <a:lnTo>
                    <a:pt x="0" y="2934451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32132" cy="297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82233" y="4113012"/>
            <a:ext cx="11130608" cy="343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6"/>
              </a:lnSpc>
            </a:pPr>
            <a:r>
              <a:rPr lang="en-US" sz="8449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Intelligent Port Operations Optimizer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2233" y="1955791"/>
            <a:ext cx="7255006" cy="139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57"/>
              </a:lnSpc>
            </a:pPr>
            <a:r>
              <a:rPr lang="en-US" sz="10148" b="true">
                <a:solidFill>
                  <a:srgbClr val="2C6AD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HarborAI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82233" y="617906"/>
            <a:ext cx="627357" cy="400368"/>
          </a:xfrm>
          <a:custGeom>
            <a:avLst/>
            <a:gdLst/>
            <a:ahLst/>
            <a:cxnLst/>
            <a:rect r="r" b="b" t="t" l="l"/>
            <a:pathLst>
              <a:path h="400368" w="627357">
                <a:moveTo>
                  <a:pt x="0" y="0"/>
                </a:moveTo>
                <a:lnTo>
                  <a:pt x="627358" y="0"/>
                </a:lnTo>
                <a:lnTo>
                  <a:pt x="627358" y="400368"/>
                </a:lnTo>
                <a:lnTo>
                  <a:pt x="0" y="400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0268" y="656006"/>
            <a:ext cx="3144397" cy="34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sz="2537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TEAM : ENIGMA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82233" y="8663042"/>
            <a:ext cx="5959863" cy="606822"/>
          </a:xfrm>
          <a:custGeom>
            <a:avLst/>
            <a:gdLst/>
            <a:ahLst/>
            <a:cxnLst/>
            <a:rect r="r" b="b" t="t" l="l"/>
            <a:pathLst>
              <a:path h="606822" w="5959863">
                <a:moveTo>
                  <a:pt x="0" y="0"/>
                </a:moveTo>
                <a:lnTo>
                  <a:pt x="5959863" y="0"/>
                </a:lnTo>
                <a:lnTo>
                  <a:pt x="5959863" y="606823"/>
                </a:lnTo>
                <a:lnTo>
                  <a:pt x="0" y="6068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78798" y="8842961"/>
            <a:ext cx="3566734" cy="275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1"/>
              </a:lnSpc>
            </a:pPr>
            <a:r>
              <a:rPr lang="en-US" sz="2001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www.reallygreatsite.com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08659" y="475100"/>
            <a:ext cx="7522393" cy="155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7"/>
              </a:lnSpc>
            </a:pPr>
            <a:r>
              <a:rPr lang="en-US" sz="383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Event:</a:t>
            </a:r>
            <a:r>
              <a:rPr lang="en-US" sz="3837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sz="38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IBM Bank of Baroda AI Innovation Hackathon 2026</a:t>
            </a:r>
          </a:p>
          <a:p>
            <a:pPr algn="l">
              <a:lnSpc>
                <a:spcPts val="406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408659" y="1801305"/>
            <a:ext cx="7522393" cy="1039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7"/>
              </a:lnSpc>
            </a:pPr>
            <a:r>
              <a:rPr lang="en-US" sz="3837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Statement:  </a:t>
            </a:r>
            <a:r>
              <a:rPr lang="en-US" sz="38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L1</a:t>
            </a:r>
          </a:p>
          <a:p>
            <a:pPr algn="l">
              <a:lnSpc>
                <a:spcPts val="4067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" t="0" r="-11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29855" y="-403539"/>
            <a:ext cx="13031377" cy="11141745"/>
            <a:chOff x="0" y="0"/>
            <a:chExt cx="3432132" cy="2934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32132" cy="2934451"/>
            </a:xfrm>
            <a:custGeom>
              <a:avLst/>
              <a:gdLst/>
              <a:ahLst/>
              <a:cxnLst/>
              <a:rect r="r" b="b" t="t" l="l"/>
              <a:pathLst>
                <a:path h="2934451" w="3432132">
                  <a:moveTo>
                    <a:pt x="0" y="0"/>
                  </a:moveTo>
                  <a:lnTo>
                    <a:pt x="3432132" y="0"/>
                  </a:lnTo>
                  <a:lnTo>
                    <a:pt x="3432132" y="2934451"/>
                  </a:lnTo>
                  <a:lnTo>
                    <a:pt x="0" y="2934451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32132" cy="297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520965" y="-1543050"/>
            <a:ext cx="3868857" cy="11997932"/>
            <a:chOff x="0" y="0"/>
            <a:chExt cx="1018958" cy="31599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8958" cy="3159949"/>
            </a:xfrm>
            <a:custGeom>
              <a:avLst/>
              <a:gdLst/>
              <a:ahLst/>
              <a:cxnLst/>
              <a:rect r="r" b="b" t="t" l="l"/>
              <a:pathLst>
                <a:path h="3159949" w="1018958">
                  <a:moveTo>
                    <a:pt x="0" y="0"/>
                  </a:moveTo>
                  <a:lnTo>
                    <a:pt x="1018958" y="0"/>
                  </a:lnTo>
                  <a:lnTo>
                    <a:pt x="1018958" y="3159949"/>
                  </a:lnTo>
                  <a:lnTo>
                    <a:pt x="0" y="3159949"/>
                  </a:lnTo>
                  <a:close/>
                </a:path>
              </a:pathLst>
            </a:custGeom>
            <a:solidFill>
              <a:srgbClr val="2C05F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018958" cy="31408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09386" y="2198640"/>
            <a:ext cx="5937387" cy="593738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42024" t="0" r="-42024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366452" y="4648945"/>
            <a:ext cx="1465360" cy="146536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42900" cap="sq">
              <a:solidFill>
                <a:srgbClr val="2C05F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42500" y="3125354"/>
            <a:ext cx="9663418" cy="103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24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 modular, backend-driven platform designed to optimize port operations and predict container congestion.</a:t>
            </a:r>
          </a:p>
          <a:p>
            <a:pPr algn="l">
              <a:lnSpc>
                <a:spcPts val="2363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42500" y="2235128"/>
            <a:ext cx="6381795" cy="69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3"/>
              </a:lnSpc>
            </a:pPr>
            <a:r>
              <a:rPr lang="en-US" sz="5068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The Concept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2500" y="912640"/>
            <a:ext cx="10556632" cy="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5"/>
              </a:lnSpc>
            </a:pPr>
            <a:r>
              <a:rPr lang="en-US" sz="6768" b="true">
                <a:solidFill>
                  <a:srgbClr val="2C6AD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What is HarborAI?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2500" y="4434248"/>
            <a:ext cx="6381795" cy="69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3"/>
              </a:lnSpc>
            </a:pPr>
            <a:r>
              <a:rPr lang="en-US" sz="5068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Problem Solved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2500" y="5324475"/>
            <a:ext cx="9663418" cy="110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24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Prevents bottlenecks and delays at maritime ports by forecasting congestion before it happens and recommending optimal resource allocations.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2500" y="6823979"/>
            <a:ext cx="6381795" cy="690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3"/>
              </a:lnSpc>
            </a:pPr>
            <a:r>
              <a:rPr lang="en-US" sz="5068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Key Differentiator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2500" y="7714206"/>
            <a:ext cx="9663418" cy="147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24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Operates entirely on a custom Synthetic Data Platform. It uses a deterministic simulation engine to generate realistic vessel telemetry, port data, and operational metrics instead of relying on external live AIS tracking.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24" t="0" r="-172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8490952" y="-708339"/>
            <a:ext cx="13031377" cy="11141745"/>
            <a:chOff x="0" y="0"/>
            <a:chExt cx="3432132" cy="2934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32132" cy="2934451"/>
            </a:xfrm>
            <a:custGeom>
              <a:avLst/>
              <a:gdLst/>
              <a:ahLst/>
              <a:cxnLst/>
              <a:rect r="r" b="b" t="t" l="l"/>
              <a:pathLst>
                <a:path h="2934451" w="3432132">
                  <a:moveTo>
                    <a:pt x="0" y="0"/>
                  </a:moveTo>
                  <a:lnTo>
                    <a:pt x="3432132" y="0"/>
                  </a:lnTo>
                  <a:lnTo>
                    <a:pt x="3432132" y="2934451"/>
                  </a:lnTo>
                  <a:lnTo>
                    <a:pt x="0" y="2934451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32132" cy="297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24521" y="3390976"/>
            <a:ext cx="8969100" cy="3505048"/>
            <a:chOff x="0" y="0"/>
            <a:chExt cx="2362232" cy="923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232" cy="923140"/>
            </a:xfrm>
            <a:custGeom>
              <a:avLst/>
              <a:gdLst/>
              <a:ahLst/>
              <a:cxnLst/>
              <a:rect r="r" b="b" t="t" l="l"/>
              <a:pathLst>
                <a:path h="923140" w="2362232">
                  <a:moveTo>
                    <a:pt x="0" y="0"/>
                  </a:moveTo>
                  <a:lnTo>
                    <a:pt x="2362232" y="0"/>
                  </a:lnTo>
                  <a:lnTo>
                    <a:pt x="2362232" y="923140"/>
                  </a:lnTo>
                  <a:lnTo>
                    <a:pt x="0" y="923140"/>
                  </a:lnTo>
                  <a:close/>
                </a:path>
              </a:pathLst>
            </a:custGeom>
            <a:solidFill>
              <a:srgbClr val="E5E5E5">
                <a:alpha val="6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2362232" cy="904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659945" y="4260576"/>
            <a:ext cx="6298253" cy="1851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5"/>
              </a:lnSpc>
            </a:pPr>
            <a:r>
              <a:rPr lang="en-US" sz="6768" b="true">
                <a:solidFill>
                  <a:srgbClr val="2C6AD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A Four-Pillar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13796" y="6102624"/>
            <a:ext cx="8479826" cy="821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5"/>
              </a:lnSpc>
            </a:pPr>
            <a:r>
              <a:rPr lang="en-US" sz="266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HarborAI is built on four distinct intelligent layers</a:t>
            </a:r>
          </a:p>
          <a:p>
            <a:pPr algn="l">
              <a:lnSpc>
                <a:spcPts val="324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76588" y="1892726"/>
            <a:ext cx="7007399" cy="123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5"/>
              </a:lnSpc>
            </a:pPr>
            <a:r>
              <a:rPr lang="en-US" sz="2660" b="true">
                <a:solidFill>
                  <a:srgbClr val="291F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Python-based deterministic engine that tracks and simulates real-time port activities (vessels, berths, cranes).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6588" y="578760"/>
            <a:ext cx="7960744" cy="94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7"/>
              </a:lnSpc>
            </a:pPr>
            <a:r>
              <a:rPr lang="en-US" sz="3469" b="true">
                <a:solidFill>
                  <a:srgbClr val="2C6AD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1. Simulation </a:t>
            </a:r>
          </a:p>
          <a:p>
            <a:pPr algn="l">
              <a:lnSpc>
                <a:spcPts val="3677"/>
              </a:lnSpc>
            </a:pPr>
            <a:r>
              <a:rPr lang="en-US" sz="3469" b="true">
                <a:solidFill>
                  <a:srgbClr val="2C6AD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(The "What is happening?" layer):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77496" y="578760"/>
            <a:ext cx="7410504" cy="94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7"/>
              </a:lnSpc>
            </a:pPr>
            <a:r>
              <a:rPr lang="en-US" sz="3469" b="true">
                <a:solidFill>
                  <a:srgbClr val="2C6AD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2.ML Prediction </a:t>
            </a:r>
          </a:p>
          <a:p>
            <a:pPr algn="l">
              <a:lnSpc>
                <a:spcPts val="3677"/>
              </a:lnSpc>
            </a:pPr>
            <a:r>
              <a:rPr lang="en-US" sz="3469" b="true">
                <a:solidFill>
                  <a:srgbClr val="2C6AD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(The "What will happen?" layer):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77496" y="1892726"/>
            <a:ext cx="7246634" cy="123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5"/>
              </a:lnSpc>
            </a:pPr>
            <a:r>
              <a:rPr lang="en-US" sz="2660" b="true">
                <a:solidFill>
                  <a:srgbClr val="291F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Powered by XGBoost, it predicts port congestion risk 6 hours into the future based on current simulation telemetry.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6588" y="6972166"/>
            <a:ext cx="6381795" cy="94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7"/>
              </a:lnSpc>
            </a:pPr>
            <a:r>
              <a:rPr lang="en-US" sz="3469" b="true">
                <a:solidFill>
                  <a:srgbClr val="2C6AD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3.Optimization</a:t>
            </a:r>
          </a:p>
          <a:p>
            <a:pPr algn="l">
              <a:lnSpc>
                <a:spcPts val="3677"/>
              </a:lnSpc>
            </a:pPr>
            <a:r>
              <a:rPr lang="en-US" sz="3469" b="true">
                <a:solidFill>
                  <a:srgbClr val="2C6AD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(The "How to fix it?" layer):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77496" y="6972166"/>
            <a:ext cx="7841126" cy="947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7"/>
              </a:lnSpc>
            </a:pPr>
            <a:r>
              <a:rPr lang="en-US" sz="3469" b="true">
                <a:solidFill>
                  <a:srgbClr val="2C6AD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4.AI Copilot </a:t>
            </a:r>
          </a:p>
          <a:p>
            <a:pPr algn="l">
              <a:lnSpc>
                <a:spcPts val="3677"/>
              </a:lnSpc>
            </a:pPr>
            <a:r>
              <a:rPr lang="en-US" sz="3469" b="true">
                <a:solidFill>
                  <a:srgbClr val="2C6AD3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(The "Explain it to me" layer):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6588" y="8210183"/>
            <a:ext cx="7007399" cy="123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5"/>
              </a:lnSpc>
            </a:pPr>
            <a:r>
              <a:rPr lang="en-US" sz="2660" b="true">
                <a:solidFill>
                  <a:srgbClr val="291F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(Upcoming Phase 5) Utilizes Google OR-Tools to recommend the optimal allocation of berths and cranes.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77496" y="8210183"/>
            <a:ext cx="7410504" cy="164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5"/>
              </a:lnSpc>
            </a:pPr>
            <a:r>
              <a:rPr lang="en-US" sz="2660" b="true">
                <a:solidFill>
                  <a:srgbClr val="291F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(Upcoming Phase 9) Integrates IBM watsonx to provide natural language explanations of decisions to port operators.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29855" y="-403539"/>
            <a:ext cx="13031377" cy="11141745"/>
            <a:chOff x="0" y="0"/>
            <a:chExt cx="3432132" cy="2934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32132" cy="2934451"/>
            </a:xfrm>
            <a:custGeom>
              <a:avLst/>
              <a:gdLst/>
              <a:ahLst/>
              <a:cxnLst/>
              <a:rect r="r" b="b" t="t" l="l"/>
              <a:pathLst>
                <a:path h="2934451" w="3432132">
                  <a:moveTo>
                    <a:pt x="0" y="0"/>
                  </a:moveTo>
                  <a:lnTo>
                    <a:pt x="3432132" y="0"/>
                  </a:lnTo>
                  <a:lnTo>
                    <a:pt x="3432132" y="2934451"/>
                  </a:lnTo>
                  <a:lnTo>
                    <a:pt x="0" y="2934451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32132" cy="297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030326" y="600013"/>
            <a:ext cx="2669376" cy="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5"/>
              </a:lnSpc>
            </a:pPr>
            <a:r>
              <a:rPr lang="en-US" sz="6768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00013"/>
            <a:ext cx="5963325" cy="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5"/>
              </a:lnSpc>
            </a:pPr>
            <a:r>
              <a:rPr lang="en-US" sz="6768" b="true">
                <a:solidFill>
                  <a:srgbClr val="2C6AD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Technology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1028723" y="3768789"/>
            <a:ext cx="3935161" cy="4774"/>
          </a:xfrm>
          <a:prstGeom prst="line">
            <a:avLst/>
          </a:prstGeom>
          <a:ln cap="flat" w="38100">
            <a:solidFill>
              <a:srgbClr val="2C05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4010362" y="1814508"/>
            <a:ext cx="10086042" cy="49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b="true" sz="3592">
                <a:solidFill>
                  <a:srgbClr val="2C6AD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Modern, Scalable, and Robust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4280" y="3353623"/>
            <a:ext cx="3196082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99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Backend API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4793" y="3978511"/>
            <a:ext cx="9583649" cy="1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Python 3.11+</a:t>
            </a:r>
          </a:p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FastAPI (High performance, async REST API)</a:t>
            </a:r>
          </a:p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Pydantic v2 (Data validation)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9352" y="5846249"/>
            <a:ext cx="3196082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99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Database: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028700" y="6256641"/>
            <a:ext cx="3935161" cy="4774"/>
          </a:xfrm>
          <a:prstGeom prst="line">
            <a:avLst/>
          </a:prstGeom>
          <a:ln cap="flat" w="38100">
            <a:solidFill>
              <a:srgbClr val="2C05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654793" y="6490015"/>
            <a:ext cx="9583649" cy="1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PostgreSQL 16 (Relational storage) </a:t>
            </a:r>
          </a:p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SQLAlchemy (ORM)</a:t>
            </a:r>
          </a:p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Alembic (Migrations)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84344" y="3353623"/>
            <a:ext cx="3937710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99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Machine Learning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11593151" y="3759264"/>
            <a:ext cx="3935161" cy="4774"/>
          </a:xfrm>
          <a:prstGeom prst="line">
            <a:avLst/>
          </a:prstGeom>
          <a:ln cap="flat" w="38100">
            <a:solidFill>
              <a:srgbClr val="2C05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1329993" y="3978511"/>
            <a:ext cx="9583649" cy="1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XGBoost (Classification)</a:t>
            </a:r>
          </a:p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scikit-learn</a:t>
            </a:r>
          </a:p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pandas</a:t>
            </a:r>
          </a:p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NumPy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93151" y="5846249"/>
            <a:ext cx="1968855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99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Frontend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11594426" y="6280465"/>
            <a:ext cx="3935161" cy="4774"/>
          </a:xfrm>
          <a:prstGeom prst="line">
            <a:avLst/>
          </a:prstGeom>
          <a:ln cap="flat" w="38100">
            <a:solidFill>
              <a:srgbClr val="2C05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1329993" y="6490015"/>
            <a:ext cx="6760680" cy="1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Next.js 14</a:t>
            </a:r>
          </a:p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TypeScript</a:t>
            </a:r>
          </a:p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Tailwind CSS (Modern, responsive UI).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16899" y="8362505"/>
            <a:ext cx="6760680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99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Infrastructure &amp; Deployment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5446675" y="8863395"/>
            <a:ext cx="7858896" cy="23824"/>
          </a:xfrm>
          <a:prstGeom prst="line">
            <a:avLst/>
          </a:prstGeom>
          <a:ln cap="flat" w="38100">
            <a:solidFill>
              <a:srgbClr val="2C05F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3089693" y="9192019"/>
            <a:ext cx="13220017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Docker &amp; Docker Compose for seamless one-click local setup.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8490952" y="-708339"/>
            <a:ext cx="13031377" cy="11141745"/>
            <a:chOff x="0" y="0"/>
            <a:chExt cx="3432132" cy="2934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32132" cy="2934451"/>
            </a:xfrm>
            <a:custGeom>
              <a:avLst/>
              <a:gdLst/>
              <a:ahLst/>
              <a:cxnLst/>
              <a:rect r="r" b="b" t="t" l="l"/>
              <a:pathLst>
                <a:path h="2934451" w="3432132">
                  <a:moveTo>
                    <a:pt x="0" y="0"/>
                  </a:moveTo>
                  <a:lnTo>
                    <a:pt x="3432132" y="0"/>
                  </a:lnTo>
                  <a:lnTo>
                    <a:pt x="3432132" y="2934451"/>
                  </a:lnTo>
                  <a:lnTo>
                    <a:pt x="0" y="2934451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32132" cy="297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67019" y="1768262"/>
            <a:ext cx="14300464" cy="1182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1"/>
              </a:lnSpc>
            </a:pPr>
            <a:r>
              <a:rPr lang="en-US" sz="43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Since live port data is highly restricted, HarborAI generates its own training data.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2572809" y="3642436"/>
            <a:ext cx="4785638" cy="4785638"/>
            <a:chOff x="0" y="0"/>
            <a:chExt cx="14840029" cy="148400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2C05F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3"/>
              <a:stretch>
                <a:fillRect l="-26286" t="0" r="-26286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67019" y="523754"/>
            <a:ext cx="16800658" cy="1851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5"/>
              </a:lnSpc>
            </a:pPr>
            <a:r>
              <a:rPr lang="en-US" sz="6768" b="true">
                <a:solidFill>
                  <a:srgbClr val="2C6AD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Generating Realistic Scenarios</a:t>
            </a:r>
          </a:p>
          <a:p>
            <a:pPr algn="l">
              <a:lnSpc>
                <a:spcPts val="7175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02378" y="3453903"/>
            <a:ext cx="4727184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99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Scenarios Generated: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7738" y="4185265"/>
            <a:ext cx="9712930" cy="241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Normal Operations: Standard day-to-day port activities.</a:t>
            </a:r>
          </a:p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Congestion Stress: High traffic, delays, and resource shortages.</a:t>
            </a:r>
          </a:p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Demo: Tailored data for presentation purposes.</a:t>
            </a:r>
          </a:p>
          <a:p>
            <a:pPr algn="l">
              <a:lnSpc>
                <a:spcPts val="3172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67019" y="6916877"/>
            <a:ext cx="2011870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99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Features: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7019" y="7646367"/>
            <a:ext cx="9583649" cy="1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Generates detailed operational history (features) and congestion history (targets) encompassing vessel counts, crane utilization, weather impacts, and tide heights.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29855" y="-403539"/>
            <a:ext cx="13031377" cy="11141745"/>
            <a:chOff x="0" y="0"/>
            <a:chExt cx="3432132" cy="2934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32132" cy="2934451"/>
            </a:xfrm>
            <a:custGeom>
              <a:avLst/>
              <a:gdLst/>
              <a:ahLst/>
              <a:cxnLst/>
              <a:rect r="r" b="b" t="t" l="l"/>
              <a:pathLst>
                <a:path h="2934451" w="3432132">
                  <a:moveTo>
                    <a:pt x="0" y="0"/>
                  </a:moveTo>
                  <a:lnTo>
                    <a:pt x="3432132" y="0"/>
                  </a:lnTo>
                  <a:lnTo>
                    <a:pt x="3432132" y="2934451"/>
                  </a:lnTo>
                  <a:lnTo>
                    <a:pt x="0" y="2934451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32132" cy="297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06273" y="4198318"/>
            <a:ext cx="5502371" cy="3086100"/>
            <a:chOff x="0" y="0"/>
            <a:chExt cx="1449184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9184" cy="812800"/>
            </a:xfrm>
            <a:custGeom>
              <a:avLst/>
              <a:gdLst/>
              <a:ahLst/>
              <a:cxnLst/>
              <a:rect r="r" b="b" t="t" l="l"/>
              <a:pathLst>
                <a:path h="812800" w="1449184">
                  <a:moveTo>
                    <a:pt x="0" y="0"/>
                  </a:moveTo>
                  <a:lnTo>
                    <a:pt x="1449184" y="0"/>
                  </a:lnTo>
                  <a:lnTo>
                    <a:pt x="144918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4918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512418" y="1227475"/>
            <a:ext cx="8731603" cy="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5"/>
              </a:lnSpc>
            </a:pPr>
            <a:r>
              <a:rPr lang="en-US" sz="6768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with High Accuracy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116" y="282865"/>
            <a:ext cx="11966077" cy="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5"/>
              </a:lnSpc>
            </a:pPr>
            <a:r>
              <a:rPr lang="en-US" sz="6768" b="true">
                <a:solidFill>
                  <a:srgbClr val="2C6AD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 Forecasting Congestion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5856" y="2829213"/>
            <a:ext cx="2502301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99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Algorithm: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9397" y="4310962"/>
            <a:ext cx="1473592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99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Target: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5856" y="4926153"/>
            <a:ext cx="9583649" cy="81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Predict if congestion will occur in the next 6 hours (Binary Classification).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5856" y="3440325"/>
            <a:ext cx="9583649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XGBoost Classifier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9397" y="6198568"/>
            <a:ext cx="2909000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99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Training Data: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5856" y="6813758"/>
            <a:ext cx="9583649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Over 6,000 synthetic operational snapshots.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01522" y="4899545"/>
            <a:ext cx="4511873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99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Performance Metrics: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01522" y="5398468"/>
            <a:ext cx="4081251" cy="1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b="true" sz="299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Accuracy:</a:t>
            </a: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99.9%</a:t>
            </a:r>
          </a:p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b="true" sz="299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F1 Sc</a:t>
            </a:r>
            <a:r>
              <a:rPr lang="en-US" b="true" sz="299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ore: </a:t>
            </a: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0.996</a:t>
            </a:r>
          </a:p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b="true" sz="299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AUC-ROC: </a:t>
            </a: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1.000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5856" y="7686124"/>
            <a:ext cx="3411393" cy="41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2"/>
              </a:lnSpc>
            </a:pPr>
            <a:r>
              <a:rPr lang="en-US" b="true" sz="2992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API Integration: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5856" y="8367989"/>
            <a:ext cx="16473610" cy="121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186" indent="-323093" lvl="1">
              <a:lnSpc>
                <a:spcPts val="3172"/>
              </a:lnSpc>
              <a:buFont typeface="Arial"/>
              <a:buChar char="•"/>
            </a:pPr>
            <a:r>
              <a:rPr lang="en-US" sz="299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Exposes a `/api/prediction/congestion` endpoint that accepts 23 real-time port features (like yard utilization, weather, scheduled arrivals) and returns a congestion probability and risk level.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8490952" y="-708339"/>
            <a:ext cx="13031377" cy="11141745"/>
            <a:chOff x="0" y="0"/>
            <a:chExt cx="3432132" cy="2934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32132" cy="2934451"/>
            </a:xfrm>
            <a:custGeom>
              <a:avLst/>
              <a:gdLst/>
              <a:ahLst/>
              <a:cxnLst/>
              <a:rect r="r" b="b" t="t" l="l"/>
              <a:pathLst>
                <a:path h="2934451" w="3432132">
                  <a:moveTo>
                    <a:pt x="0" y="0"/>
                  </a:moveTo>
                  <a:lnTo>
                    <a:pt x="3432132" y="0"/>
                  </a:lnTo>
                  <a:lnTo>
                    <a:pt x="3432132" y="2934451"/>
                  </a:lnTo>
                  <a:lnTo>
                    <a:pt x="0" y="2934451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32132" cy="297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38559" y="207613"/>
            <a:ext cx="21604407" cy="2205778"/>
            <a:chOff x="0" y="0"/>
            <a:chExt cx="5690050" cy="580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90050" cy="580946"/>
            </a:xfrm>
            <a:custGeom>
              <a:avLst/>
              <a:gdLst/>
              <a:ahLst/>
              <a:cxnLst/>
              <a:rect r="r" b="b" t="t" l="l"/>
              <a:pathLst>
                <a:path h="580946" w="5690050">
                  <a:moveTo>
                    <a:pt x="0" y="0"/>
                  </a:moveTo>
                  <a:lnTo>
                    <a:pt x="5690050" y="0"/>
                  </a:lnTo>
                  <a:lnTo>
                    <a:pt x="5690050" y="580946"/>
                  </a:lnTo>
                  <a:lnTo>
                    <a:pt x="0" y="580946"/>
                  </a:lnTo>
                  <a:close/>
                </a:path>
              </a:pathLst>
            </a:custGeom>
            <a:solidFill>
              <a:srgbClr val="2C05F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5690050" cy="561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20773" y="869518"/>
            <a:ext cx="15136029" cy="1851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5"/>
              </a:lnSpc>
            </a:pPr>
            <a:r>
              <a:rPr lang="en-US" sz="6768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 Fully API-Driven Platform</a:t>
            </a:r>
          </a:p>
          <a:p>
            <a:pPr algn="l">
              <a:lnSpc>
                <a:spcPts val="7175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-1551453" y="7999911"/>
            <a:ext cx="3102905" cy="310290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42950" cap="sq">
              <a:solidFill>
                <a:srgbClr val="2C05F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2880526"/>
            <a:ext cx="3964014" cy="396401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2C05F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1"/>
                </a:lnSpc>
              </a:pPr>
              <a:r>
                <a:rPr lang="en-US" b="true" sz="2237">
                  <a:solidFill>
                    <a:srgbClr val="291F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INTERACTIVE DOCUMENTATION:</a:t>
              </a:r>
            </a:p>
            <a:p>
              <a:pPr algn="ctr">
                <a:lnSpc>
                  <a:spcPts val="1841"/>
                </a:lnSpc>
              </a:pPr>
            </a:p>
            <a:p>
              <a:pPr algn="ctr">
                <a:lnSpc>
                  <a:spcPts val="2159"/>
                </a:lnSpc>
              </a:pPr>
              <a:r>
                <a:rPr lang="en-US" b="true" sz="2037">
                  <a:solidFill>
                    <a:srgbClr val="291F23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 </a:t>
              </a:r>
              <a:r>
                <a:rPr lang="en-US" sz="2037">
                  <a:solidFill>
                    <a:srgbClr val="291F2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OUT-OF-THE-BOX SWAGGER UI (VIA FASTAPI) FOR TESTING AND INTEGRATION.</a:t>
              </a:r>
            </a:p>
            <a:p>
              <a:pPr algn="ctr">
                <a:lnSpc>
                  <a:spcPts val="2159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3653008" y="5948555"/>
            <a:ext cx="1303578" cy="786772"/>
          </a:xfrm>
          <a:prstGeom prst="line">
            <a:avLst/>
          </a:prstGeom>
          <a:ln cap="flat" w="38100">
            <a:solidFill>
              <a:srgbClr val="2C05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4526938" y="6017904"/>
            <a:ext cx="3964014" cy="396401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2C05F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1"/>
                </a:lnSpc>
              </a:pPr>
              <a:r>
                <a:rPr lang="en-US" b="true" sz="2237">
                  <a:solidFill>
                    <a:srgbClr val="291F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CORE ENDPOINTS:</a:t>
              </a:r>
            </a:p>
            <a:p>
              <a:pPr algn="ctr">
                <a:lnSpc>
                  <a:spcPts val="1841"/>
                </a:lnSpc>
              </a:pPr>
            </a:p>
            <a:p>
              <a:pPr algn="ctr">
                <a:lnSpc>
                  <a:spcPts val="2159"/>
                </a:lnSpc>
              </a:pPr>
              <a:r>
                <a:rPr lang="en-US" b="true" sz="2037">
                  <a:solidFill>
                    <a:srgbClr val="291F23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 </a:t>
              </a:r>
              <a:r>
                <a:rPr lang="en-US" sz="2037">
                  <a:solidFill>
                    <a:srgbClr val="291F2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MANAGE VESSELS, BERTHS, CRANES, AND PORT STATUS (`/API/VESSELS`, `/API/BERTHS`, ETC.)</a:t>
              </a:r>
            </a:p>
            <a:p>
              <a:pPr algn="ctr">
                <a:lnSpc>
                  <a:spcPts val="21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27300" y="2880526"/>
            <a:ext cx="3964014" cy="396401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2C05F2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1"/>
                </a:lnSpc>
              </a:pPr>
              <a:r>
                <a:rPr lang="en-US" b="true" sz="2237">
                  <a:solidFill>
                    <a:srgbClr val="291F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SIMULATION ENDPOINTS:</a:t>
              </a:r>
            </a:p>
            <a:p>
              <a:pPr algn="ctr">
                <a:lnSpc>
                  <a:spcPts val="1841"/>
                </a:lnSpc>
              </a:pPr>
            </a:p>
            <a:p>
              <a:pPr algn="ctr">
                <a:lnSpc>
                  <a:spcPts val="2159"/>
                </a:lnSpc>
              </a:pPr>
              <a:r>
                <a:rPr lang="en-US" b="true" sz="2037">
                  <a:solidFill>
                    <a:srgbClr val="291F23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 </a:t>
              </a:r>
              <a:r>
                <a:rPr lang="en-US" sz="2037">
                  <a:solidFill>
                    <a:srgbClr val="291F2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CONTROL THE PORT SIMULATION CLOCK (`/SIMULATION/START`, `/SIMULATION/ADVANCE`)</a:t>
              </a:r>
            </a:p>
            <a:p>
              <a:pPr algn="ctr">
                <a:lnSpc>
                  <a:spcPts val="215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V="true">
            <a:off x="8188788" y="5634760"/>
            <a:ext cx="1294581" cy="1002984"/>
          </a:xfrm>
          <a:prstGeom prst="line">
            <a:avLst/>
          </a:prstGeom>
          <a:ln cap="flat" w="38100">
            <a:solidFill>
              <a:srgbClr val="2C05F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4084383" y="6017904"/>
            <a:ext cx="3964014" cy="396401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2C05F2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1"/>
                </a:lnSpc>
              </a:pPr>
              <a:r>
                <a:rPr lang="en-US" b="true" sz="2237">
                  <a:solidFill>
                    <a:srgbClr val="291F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SIMULATION ENDPOINTS:</a:t>
              </a:r>
            </a:p>
            <a:p>
              <a:pPr algn="ctr">
                <a:lnSpc>
                  <a:spcPts val="1841"/>
                </a:lnSpc>
              </a:pPr>
            </a:p>
            <a:p>
              <a:pPr algn="ctr">
                <a:lnSpc>
                  <a:spcPts val="2159"/>
                </a:lnSpc>
              </a:pPr>
              <a:r>
                <a:rPr lang="en-US" b="true" sz="2037">
                  <a:solidFill>
                    <a:srgbClr val="291F2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CONTROL THE PORT SIMULATION CLOCK (`/SIMULATION/START`, `/SIMULATION/ADVANCE`)</a:t>
              </a:r>
            </a:p>
            <a:p>
              <a:pPr algn="ctr">
                <a:lnSpc>
                  <a:spcPts val="215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087716" y="5651069"/>
            <a:ext cx="1399272" cy="906389"/>
          </a:xfrm>
          <a:prstGeom prst="line">
            <a:avLst/>
          </a:prstGeom>
          <a:ln cap="flat" w="38100">
            <a:solidFill>
              <a:srgbClr val="2C05F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12701" y="1031959"/>
            <a:ext cx="10507409" cy="11141745"/>
            <a:chOff x="0" y="0"/>
            <a:chExt cx="2767384" cy="2934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67384" cy="2934451"/>
            </a:xfrm>
            <a:custGeom>
              <a:avLst/>
              <a:gdLst/>
              <a:ahLst/>
              <a:cxnLst/>
              <a:rect r="r" b="b" t="t" l="l"/>
              <a:pathLst>
                <a:path h="2934451" w="2767384">
                  <a:moveTo>
                    <a:pt x="0" y="0"/>
                  </a:moveTo>
                  <a:lnTo>
                    <a:pt x="2767384" y="0"/>
                  </a:lnTo>
                  <a:lnTo>
                    <a:pt x="2767384" y="2934451"/>
                  </a:lnTo>
                  <a:lnTo>
                    <a:pt x="0" y="2934451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67384" cy="297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333339" y="8481535"/>
            <a:ext cx="846683" cy="484918"/>
          </a:xfrm>
          <a:custGeom>
            <a:avLst/>
            <a:gdLst/>
            <a:ahLst/>
            <a:cxnLst/>
            <a:rect r="r" b="b" t="t" l="l"/>
            <a:pathLst>
              <a:path h="484918" w="846683">
                <a:moveTo>
                  <a:pt x="0" y="0"/>
                </a:moveTo>
                <a:lnTo>
                  <a:pt x="846683" y="0"/>
                </a:lnTo>
                <a:lnTo>
                  <a:pt x="846683" y="484919"/>
                </a:lnTo>
                <a:lnTo>
                  <a:pt x="0" y="4849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699702" y="1391388"/>
            <a:ext cx="7448771" cy="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5"/>
              </a:lnSpc>
            </a:pPr>
            <a:r>
              <a:rPr lang="en-US" sz="6768" b="true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&amp; Next Steps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1344" y="1391388"/>
            <a:ext cx="8084480" cy="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5"/>
              </a:lnSpc>
            </a:pPr>
            <a:r>
              <a:rPr lang="en-US" sz="6768" b="true">
                <a:solidFill>
                  <a:srgbClr val="2C6AD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Current Progress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998" y="3986100"/>
            <a:ext cx="5908395" cy="44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0"/>
              </a:lnSpc>
            </a:pPr>
            <a:r>
              <a:rPr lang="en-US" sz="3292" b="true">
                <a:solidFill>
                  <a:srgbClr val="2C05F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Completed Phases (0-4):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0005" y="4836761"/>
            <a:ext cx="7384157" cy="37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017" indent="-295508" lvl="1">
              <a:lnSpc>
                <a:spcPts val="3339"/>
              </a:lnSpc>
              <a:buFont typeface="Arial"/>
              <a:buChar char="•"/>
            </a:pP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foundation and Docker environment.</a:t>
            </a:r>
          </a:p>
          <a:p>
            <a:pPr algn="l" marL="591017" indent="-295508" lvl="1">
              <a:lnSpc>
                <a:spcPts val="3339"/>
              </a:lnSpc>
              <a:buFont typeface="Arial"/>
              <a:buChar char="•"/>
            </a:pP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Domain modeling and PostgreSQL database setup.</a:t>
            </a:r>
          </a:p>
          <a:p>
            <a:pPr algn="l" marL="591017" indent="-295508" lvl="1">
              <a:lnSpc>
                <a:spcPts val="3339"/>
              </a:lnSpc>
              <a:buFont typeface="Arial"/>
              <a:buChar char="•"/>
            </a:pP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Deterministic Port Simulation Engine.</a:t>
            </a:r>
          </a:p>
          <a:p>
            <a:pPr algn="l" marL="591017" indent="-295508" lvl="1">
              <a:lnSpc>
                <a:spcPts val="3339"/>
              </a:lnSpc>
              <a:buFont typeface="Arial"/>
              <a:buChar char="•"/>
            </a:pP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Synthetic dataset pipeline (3 core scenarios).</a:t>
            </a:r>
          </a:p>
          <a:p>
            <a:pPr algn="l" marL="591017" indent="-295508" lvl="1">
              <a:lnSpc>
                <a:spcPts val="3339"/>
              </a:lnSpc>
              <a:buFont typeface="Arial"/>
              <a:buChar char="•"/>
            </a:pP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XGBoost congestion prediction model (Highly accurate).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4944" y="3986100"/>
            <a:ext cx="5908395" cy="44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0"/>
              </a:lnSpc>
            </a:pPr>
            <a:r>
              <a:rPr lang="en-US" sz="3292" b="true">
                <a:solidFill>
                  <a:srgbClr val="2C05F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 </a:t>
            </a:r>
            <a:r>
              <a:rPr lang="en-US" sz="3292" b="true">
                <a:solidFill>
                  <a:srgbClr val="2C05F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</a:t>
            </a:r>
            <a:r>
              <a:rPr lang="en-US" sz="3292" b="true">
                <a:solidFill>
                  <a:srgbClr val="2C05F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ending Phases (5-11):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24944" y="4836761"/>
            <a:ext cx="7400279" cy="251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017" indent="-295508" lvl="1">
              <a:lnSpc>
                <a:spcPts val="3339"/>
              </a:lnSpc>
              <a:buFont typeface="Arial"/>
              <a:buChar char="•"/>
            </a:pP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Google OR-Tools optimization engine (Berth/Crane allocation).</a:t>
            </a:r>
          </a:p>
          <a:p>
            <a:pPr algn="l" marL="591017" indent="-295508" lvl="1">
              <a:lnSpc>
                <a:spcPts val="3339"/>
              </a:lnSpc>
              <a:buFont typeface="Arial"/>
              <a:buChar char="•"/>
            </a:pP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Digital Twin visualization &amp; Frontend Planner UI.</a:t>
            </a:r>
          </a:p>
          <a:p>
            <a:pPr algn="l" marL="591017" indent="-295508" lvl="1">
              <a:lnSpc>
                <a:spcPts val="3339"/>
              </a:lnSpc>
              <a:buFont typeface="Arial"/>
              <a:buChar char="•"/>
            </a:pP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IBM watsonx AI Copilot integration for operator assistance.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8914055" y="3938475"/>
            <a:ext cx="0" cy="5809460"/>
          </a:xfrm>
          <a:prstGeom prst="line">
            <a:avLst/>
          </a:prstGeom>
          <a:ln cap="flat" w="38100">
            <a:solidFill>
              <a:srgbClr val="2C05F2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29855" y="-427373"/>
            <a:ext cx="13031377" cy="11141745"/>
            <a:chOff x="0" y="0"/>
            <a:chExt cx="3432132" cy="29344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32132" cy="2934451"/>
            </a:xfrm>
            <a:custGeom>
              <a:avLst/>
              <a:gdLst/>
              <a:ahLst/>
              <a:cxnLst/>
              <a:rect r="r" b="b" t="t" l="l"/>
              <a:pathLst>
                <a:path h="2934451" w="3432132">
                  <a:moveTo>
                    <a:pt x="0" y="0"/>
                  </a:moveTo>
                  <a:lnTo>
                    <a:pt x="3432132" y="0"/>
                  </a:lnTo>
                  <a:lnTo>
                    <a:pt x="3432132" y="2934451"/>
                  </a:lnTo>
                  <a:lnTo>
                    <a:pt x="0" y="2934451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32132" cy="2972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6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29855" y="0"/>
            <a:ext cx="22357833" cy="6098304"/>
            <a:chOff x="0" y="0"/>
            <a:chExt cx="5888483" cy="16061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88483" cy="1606138"/>
            </a:xfrm>
            <a:custGeom>
              <a:avLst/>
              <a:gdLst/>
              <a:ahLst/>
              <a:cxnLst/>
              <a:rect r="r" b="b" t="t" l="l"/>
              <a:pathLst>
                <a:path h="1606138" w="5888483">
                  <a:moveTo>
                    <a:pt x="0" y="0"/>
                  </a:moveTo>
                  <a:lnTo>
                    <a:pt x="5888483" y="0"/>
                  </a:lnTo>
                  <a:lnTo>
                    <a:pt x="5888483" y="1606138"/>
                  </a:lnTo>
                  <a:lnTo>
                    <a:pt x="0" y="1606138"/>
                  </a:lnTo>
                  <a:close/>
                </a:path>
              </a:pathLst>
            </a:custGeom>
            <a:solidFill>
              <a:srgbClr val="E5E5E5">
                <a:alpha val="6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5888483" cy="1587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476765" y="-401139"/>
            <a:ext cx="3493430" cy="349343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42950" cap="sq">
              <a:solidFill>
                <a:srgbClr val="2C05F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2077935" y="7714161"/>
            <a:ext cx="3493430" cy="349343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42950" cap="sq">
              <a:solidFill>
                <a:srgbClr val="2C05F2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1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861102" y="1431301"/>
            <a:ext cx="15412743" cy="939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5"/>
              </a:lnSpc>
            </a:pPr>
            <a:r>
              <a:rPr lang="en-US" sz="6768" b="true">
                <a:solidFill>
                  <a:srgbClr val="2C6AD3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Transforming </a:t>
            </a:r>
            <a:r>
              <a:rPr lang="en-US" sz="6768" b="true">
                <a:solidFill>
                  <a:srgbClr val="010101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Port Operations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9998" y="3986100"/>
            <a:ext cx="5908395" cy="44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0"/>
              </a:lnSpc>
            </a:pPr>
            <a:r>
              <a:rPr lang="en-US" sz="3292" b="true">
                <a:solidFill>
                  <a:srgbClr val="2C05F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Proactive over Reactive: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2158" y="4597527"/>
            <a:ext cx="7384157" cy="125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017" indent="-295508" lvl="1">
              <a:lnSpc>
                <a:spcPts val="3339"/>
              </a:lnSpc>
              <a:buFont typeface="Arial"/>
              <a:buChar char="•"/>
            </a:pP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Shifts port management</a:t>
            </a: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from reacting to traffic jams to proactively predicting and preventing them.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49061" y="3986100"/>
            <a:ext cx="5908395" cy="44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0"/>
              </a:lnSpc>
            </a:pPr>
            <a:r>
              <a:rPr lang="en-US" sz="3292" b="true">
                <a:solidFill>
                  <a:srgbClr val="2C05F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Cost Efficiency: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75143" y="4597527"/>
            <a:ext cx="7384157" cy="125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017" indent="-295508" lvl="1">
              <a:lnSpc>
                <a:spcPts val="3339"/>
              </a:lnSpc>
              <a:buFont typeface="Arial"/>
              <a:buChar char="•"/>
            </a:pP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Optimizing crane and berth usage</a:t>
            </a: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reduces vessel waiting times, saving millions in fuel and demurrage costs.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85834" y="7265087"/>
            <a:ext cx="5908395" cy="449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0"/>
              </a:lnSpc>
            </a:pPr>
            <a:r>
              <a:rPr lang="en-US" sz="3292" b="true">
                <a:solidFill>
                  <a:srgbClr val="2C05F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Proactive over Reactive: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478235" y="7998428"/>
            <a:ext cx="11331530" cy="125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017" indent="-295508" lvl="1">
              <a:lnSpc>
                <a:spcPts val="3339"/>
              </a:lnSpc>
              <a:buFont typeface="Arial"/>
              <a:buChar char="•"/>
            </a:pP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simulated data approach means the</a:t>
            </a:r>
            <a:r>
              <a:rPr lang="en-US" sz="27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platform can be customized for any port in the world without exposing sensitive operational data during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DAHVRyqI9ps</dc:identifier>
  <dcterms:modified xsi:type="dcterms:W3CDTF">2011-08-01T06:04:30Z</dcterms:modified>
  <cp:revision>1</cp:revision>
  <dc:title>hips</dc:title>
</cp:coreProperties>
</file>